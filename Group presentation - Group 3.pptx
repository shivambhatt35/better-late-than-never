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Play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VrvQq+U52FfuUkV08916kDNtb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660E5E-6522-494E-8277-ECBBBE6872FD}">
  <a:tblStyle styleId="{56660E5E-6522-494E-8277-ECBBBE6872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85fab307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85fab30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ad74846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ad7484636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ad748463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ad748463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d7484636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ad748463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d7484636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d748463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ad7484636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ad74846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526429a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8526429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526429a3_2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8526429a3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526429a3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8526429a3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8526429a3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8526429a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8526429a3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8526429a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526429a3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8526429a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Based on the cleaned data, we found some interesting insights.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Although only 8.1% of orders arrive delayed, that small segment drags average review scores down by 40%, and cuts repeat purchase rate by 16%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>
                <a:solidFill>
                  <a:schemeClr val="dk1"/>
                </a:solidFill>
              </a:rPr>
              <a:t>So that made us want to dig deeper into two relationships: first, delays and review scores, and second, delays and repeat purchases. 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d7893cf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d7893c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To test the first relationship, we used a t-test, since we're comparing a numeric variable — review score — across two groups: on-time orders and delayed orders.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Our hypothesis was that the average review score would be the same for both groups. But the test showed that average review score is not the same.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To double-check this, we also ran it the other way around — grouping orders by review score instead, high-rated versus low-rated, and comparing their delay rates. Same result: the difference was significant again.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So both tests point to the same conclusion — delays really do have a significant impact on customer satisfaction.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526429a3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8526429a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Next, we looked at repeat purchases — that's a yes-or-no variable, so this time we used a chi-square.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And again, we found a significant relationship: repeat purchase rates is not the same for on-time versus delayed orders.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So overall, what we're seeing is that delivery delays clearly hurt both customer satisfaction and customer retention. And that leads into our next step — figuring out what conditions are most likely to cause these delays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526429a3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8526429a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526429a3_4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f8526429a3_4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8526429a3_4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8526429a3_4_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f8526429a3_4_5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f8526429a3_4_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8526429a3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8526429a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ad7893cf8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ad7893c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526429a3_7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8526429a3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d7893cf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fad7893cf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7" name="Google Shape;2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" name="Google Shape;11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0438656" y="5735625"/>
            <a:ext cx="1753339" cy="1122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bc-9be97a69-c520.cloud.databricks.com/editor/notebooks/530294719074615?o=7474652451077049#command/8078495091479907" TargetMode="External"/><Relationship Id="rId4" Type="http://schemas.openxmlformats.org/officeDocument/2006/relationships/hyperlink" Target="https://github.com/shivambhatt35/Better-late-than-never" TargetMode="External"/><Relationship Id="rId5" Type="http://schemas.openxmlformats.org/officeDocument/2006/relationships/hyperlink" Target="https://docs.google.com/presentation/d/1xe78iy3k0WDrTWiHSMP0OUK1W6T1kGDW/edit?slide=id.p1#slide=id.p1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85fab3073_0_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Better late than never</a:t>
            </a:r>
            <a:endParaRPr/>
          </a:p>
        </p:txBody>
      </p:sp>
      <p:sp>
        <p:nvSpPr>
          <p:cNvPr id="87" name="Google Shape;87;g3f85fab3073_0_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Group 3 - Theresia Wangke, Fang Yi Lin, Benito Jimenez Jaso, Shivam Bhatt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d7484636_0_9"/>
          <p:cNvSpPr txBox="1"/>
          <p:nvPr>
            <p:ph type="ctrTitle"/>
          </p:nvPr>
        </p:nvSpPr>
        <p:spPr>
          <a:xfrm>
            <a:off x="1524000" y="16781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zh-TW"/>
              <a:t>… but not really.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zh-TW"/>
              <a:t>Better on time than late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3fad7484636_0_4" title="online ordering meme.jpeg"/>
          <p:cNvPicPr preferRelativeResize="0"/>
          <p:nvPr/>
        </p:nvPicPr>
        <p:blipFill rotWithShape="1">
          <a:blip r:embed="rId3">
            <a:alphaModFix/>
          </a:blip>
          <a:srcRect b="11894" l="0" r="0" t="0"/>
          <a:stretch/>
        </p:blipFill>
        <p:spPr>
          <a:xfrm>
            <a:off x="9220100" y="2211400"/>
            <a:ext cx="3150550" cy="34853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ad7484636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Problem Statement</a:t>
            </a:r>
            <a:endParaRPr/>
          </a:p>
        </p:txBody>
      </p:sp>
      <p:sp>
        <p:nvSpPr>
          <p:cNvPr id="99" name="Google Shape;99;g3fad7484636_0_4"/>
          <p:cNvSpPr txBox="1"/>
          <p:nvPr>
            <p:ph idx="1" type="body"/>
          </p:nvPr>
        </p:nvSpPr>
        <p:spPr>
          <a:xfrm>
            <a:off x="838200" y="1690825"/>
            <a:ext cx="8659800" cy="491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 this modern world, people are no stranger to online deliveries.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Especially in the e-commerce industry, where lots of platforms are competing with one another, customers has formed some sort of expectation on what their purchase experience should be.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Product quality, customer service, expected delivery date…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Understanding the relationship between customer satisfaction and repeat purchase behavior with order delivery performance is key for e-commerces to keep customers and stay afloat.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d7484636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Guiding Question</a:t>
            </a:r>
            <a:endParaRPr/>
          </a:p>
        </p:txBody>
      </p:sp>
      <p:sp>
        <p:nvSpPr>
          <p:cNvPr id="105" name="Google Shape;105;g3fad7484636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E-commerce companies compete on price, selection, and speed. But speed is often the most fragile of the three. A single missed delivery window can undo the value of great product at a great price.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zh-TW"/>
              <a:t>So we raise the question...</a:t>
            </a:r>
            <a:endParaRPr/>
          </a:p>
        </p:txBody>
      </p:sp>
      <p:pic>
        <p:nvPicPr>
          <p:cNvPr id="106" name="Google Shape;106;g3fad7484636_0_14"/>
          <p:cNvPicPr preferRelativeResize="0"/>
          <p:nvPr/>
        </p:nvPicPr>
        <p:blipFill rotWithShape="1">
          <a:blip r:embed="rId3">
            <a:alphaModFix/>
          </a:blip>
          <a:srcRect b="24631" l="4568" r="17738" t="52348"/>
          <a:stretch/>
        </p:blipFill>
        <p:spPr>
          <a:xfrm>
            <a:off x="838200" y="4535575"/>
            <a:ext cx="9051376" cy="150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ad7484636_0_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Case: Delivery Delay Analysis</a:t>
            </a:r>
            <a:endParaRPr/>
          </a:p>
        </p:txBody>
      </p:sp>
      <p:sp>
        <p:nvSpPr>
          <p:cNvPr id="117" name="Google Shape;117;g3fad7484636_0_27"/>
          <p:cNvSpPr txBox="1"/>
          <p:nvPr>
            <p:ph idx="1" type="body"/>
          </p:nvPr>
        </p:nvSpPr>
        <p:spPr>
          <a:xfrm>
            <a:off x="838200" y="1388950"/>
            <a:ext cx="10515600" cy="50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zh-TW" sz="2000"/>
              <a:t>Understanding the impact of delivery delays and predicting them before they happen</a:t>
            </a:r>
            <a:endParaRPr i="1" sz="2000"/>
          </a:p>
        </p:txBody>
      </p:sp>
      <p:pic>
        <p:nvPicPr>
          <p:cNvPr id="118" name="Google Shape;118;g3fad7484636_0_27"/>
          <p:cNvPicPr preferRelativeResize="0"/>
          <p:nvPr/>
        </p:nvPicPr>
        <p:blipFill rotWithShape="1">
          <a:blip r:embed="rId3">
            <a:alphaModFix/>
          </a:blip>
          <a:srcRect b="1008" l="464" r="810" t="14297"/>
          <a:stretch/>
        </p:blipFill>
        <p:spPr>
          <a:xfrm>
            <a:off x="1049242" y="1815725"/>
            <a:ext cx="10093521" cy="504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d7484636_0_3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Setting up the Foundation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3f8526429a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875" y="152400"/>
            <a:ext cx="11236524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526429a3_2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8526429a3_2_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g3f8526429a3_2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9" y="43163"/>
            <a:ext cx="11430002" cy="677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526429a3_7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8526429a3_7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g3f8526429a3_7_0"/>
          <p:cNvPicPr preferRelativeResize="0"/>
          <p:nvPr/>
        </p:nvPicPr>
        <p:blipFill rotWithShape="1">
          <a:blip r:embed="rId3">
            <a:alphaModFix/>
          </a:blip>
          <a:srcRect b="6206" l="0" r="0" t="12028"/>
          <a:stretch/>
        </p:blipFill>
        <p:spPr>
          <a:xfrm>
            <a:off x="327875" y="420650"/>
            <a:ext cx="11536251" cy="6215073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526429a3_2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8526429a3_2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g3f8526429a3_2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37" y="0"/>
            <a:ext cx="11248926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526429a3_0_13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Business Insight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526429a3_0_25"/>
          <p:cNvSpPr txBox="1"/>
          <p:nvPr>
            <p:ph type="title"/>
          </p:nvPr>
        </p:nvSpPr>
        <p:spPr>
          <a:xfrm>
            <a:off x="450375" y="365125"/>
            <a:ext cx="10515600" cy="89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Late delivery drags average review scores down by 40% 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/>
              <a:t>and cuts repeat purchase rate by 16%</a:t>
            </a:r>
            <a:endParaRPr sz="3200"/>
          </a:p>
        </p:txBody>
      </p:sp>
      <p:pic>
        <p:nvPicPr>
          <p:cNvPr id="165" name="Google Shape;165;g3f8526429a3_0_25"/>
          <p:cNvPicPr preferRelativeResize="0"/>
          <p:nvPr/>
        </p:nvPicPr>
        <p:blipFill rotWithShape="1">
          <a:blip r:embed="rId3">
            <a:alphaModFix/>
          </a:blip>
          <a:srcRect b="0" l="0" r="0" t="9747"/>
          <a:stretch/>
        </p:blipFill>
        <p:spPr>
          <a:xfrm>
            <a:off x="450375" y="1344925"/>
            <a:ext cx="10257424" cy="52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d7893cf8_0_0"/>
          <p:cNvSpPr txBox="1"/>
          <p:nvPr>
            <p:ph type="title"/>
          </p:nvPr>
        </p:nvSpPr>
        <p:spPr>
          <a:xfrm>
            <a:off x="328925" y="214225"/>
            <a:ext cx="11025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Delays have significant impact on customer satisfaction</a:t>
            </a:r>
            <a:endParaRPr/>
          </a:p>
        </p:txBody>
      </p:sp>
      <p:pic>
        <p:nvPicPr>
          <p:cNvPr id="171" name="Google Shape;171;g3fad7893cf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00" y="1539925"/>
            <a:ext cx="11603359" cy="5013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526429a3_0_45"/>
          <p:cNvSpPr txBox="1"/>
          <p:nvPr>
            <p:ph type="title"/>
          </p:nvPr>
        </p:nvSpPr>
        <p:spPr>
          <a:xfrm>
            <a:off x="697750" y="214225"/>
            <a:ext cx="10656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Delays have significant impact on Customer Retention</a:t>
            </a:r>
            <a:endParaRPr/>
          </a:p>
        </p:txBody>
      </p:sp>
      <p:pic>
        <p:nvPicPr>
          <p:cNvPr id="177" name="Google Shape;177;g3f8526429a3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375" y="1539925"/>
            <a:ext cx="10404900" cy="26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526429a3_0_13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Delay Prediction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526429a3_4_0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Feature</a:t>
            </a:r>
            <a:r>
              <a:rPr b="1" i="0" lang="zh-TW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zh-TW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Engineering</a:t>
            </a:r>
            <a:endParaRPr sz="3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9" name="Google Shape;189;g3f8526429a3_4_0"/>
          <p:cNvSpPr/>
          <p:nvPr/>
        </p:nvSpPr>
        <p:spPr>
          <a:xfrm>
            <a:off x="365760" y="1170432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SOURCE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8526429a3_4_0"/>
          <p:cNvSpPr/>
          <p:nvPr/>
        </p:nvSpPr>
        <p:spPr>
          <a:xfrm>
            <a:off x="365760" y="1508760"/>
            <a:ext cx="1600200" cy="567000"/>
          </a:xfrm>
          <a:prstGeom prst="roundRect">
            <a:avLst>
              <a:gd fmla="val 16129" name="adj"/>
            </a:avLst>
          </a:prstGeom>
          <a:solidFill>
            <a:srgbClr val="F5F7FA"/>
          </a:solidFill>
          <a:ln cap="flat" cmpd="sng" w="12700">
            <a:solidFill>
              <a:srgbClr val="C9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8526429a3_4_0"/>
          <p:cNvSpPr/>
          <p:nvPr/>
        </p:nvSpPr>
        <p:spPr>
          <a:xfrm>
            <a:off x="365760" y="1508760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200"/>
              <a:buFont typeface="Calibri"/>
              <a:buNone/>
            </a:pPr>
            <a:r>
              <a:rPr b="0" i="0" lang="zh-TW" sz="160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8526429a3_4_0"/>
          <p:cNvSpPr/>
          <p:nvPr/>
        </p:nvSpPr>
        <p:spPr>
          <a:xfrm>
            <a:off x="365760" y="2221992"/>
            <a:ext cx="1600200" cy="567000"/>
          </a:xfrm>
          <a:prstGeom prst="roundRect">
            <a:avLst>
              <a:gd fmla="val 16129" name="adj"/>
            </a:avLst>
          </a:prstGeom>
          <a:solidFill>
            <a:srgbClr val="F5F7FA"/>
          </a:solidFill>
          <a:ln cap="flat" cmpd="sng" w="12700">
            <a:solidFill>
              <a:srgbClr val="C9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8526429a3_4_0"/>
          <p:cNvSpPr/>
          <p:nvPr/>
        </p:nvSpPr>
        <p:spPr>
          <a:xfrm>
            <a:off x="365760" y="2221992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200"/>
              <a:buFont typeface="Calibri"/>
              <a:buNone/>
            </a:pPr>
            <a:r>
              <a:rPr b="0" i="0" lang="zh-TW" sz="160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Order items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8526429a3_4_0"/>
          <p:cNvSpPr/>
          <p:nvPr/>
        </p:nvSpPr>
        <p:spPr>
          <a:xfrm>
            <a:off x="365760" y="2935224"/>
            <a:ext cx="1600200" cy="567000"/>
          </a:xfrm>
          <a:prstGeom prst="roundRect">
            <a:avLst>
              <a:gd fmla="val 16129" name="adj"/>
            </a:avLst>
          </a:prstGeom>
          <a:solidFill>
            <a:srgbClr val="F5F7FA"/>
          </a:solidFill>
          <a:ln cap="flat" cmpd="sng" w="12700">
            <a:solidFill>
              <a:srgbClr val="C9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f8526429a3_4_0"/>
          <p:cNvSpPr/>
          <p:nvPr/>
        </p:nvSpPr>
        <p:spPr>
          <a:xfrm>
            <a:off x="365760" y="2935224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200"/>
              <a:buFont typeface="Calibri"/>
              <a:buNone/>
            </a:pPr>
            <a:r>
              <a:rPr b="0" i="0" lang="zh-TW" sz="160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8526429a3_4_0"/>
          <p:cNvSpPr/>
          <p:nvPr/>
        </p:nvSpPr>
        <p:spPr>
          <a:xfrm>
            <a:off x="365760" y="3648456"/>
            <a:ext cx="1600200" cy="567000"/>
          </a:xfrm>
          <a:prstGeom prst="roundRect">
            <a:avLst>
              <a:gd fmla="val 16129" name="adj"/>
            </a:avLst>
          </a:prstGeom>
          <a:solidFill>
            <a:srgbClr val="F5F7FA"/>
          </a:solidFill>
          <a:ln cap="flat" cmpd="sng" w="12700">
            <a:solidFill>
              <a:srgbClr val="C9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8526429a3_4_0"/>
          <p:cNvSpPr/>
          <p:nvPr/>
        </p:nvSpPr>
        <p:spPr>
          <a:xfrm>
            <a:off x="365760" y="3648456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200"/>
              <a:buFont typeface="Calibri"/>
              <a:buNone/>
            </a:pPr>
            <a:r>
              <a:rPr b="0" i="0" lang="zh-TW" sz="160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8526429a3_4_0"/>
          <p:cNvSpPr/>
          <p:nvPr/>
        </p:nvSpPr>
        <p:spPr>
          <a:xfrm>
            <a:off x="365760" y="4361688"/>
            <a:ext cx="1600200" cy="567000"/>
          </a:xfrm>
          <a:prstGeom prst="roundRect">
            <a:avLst>
              <a:gd fmla="val 16129" name="adj"/>
            </a:avLst>
          </a:prstGeom>
          <a:solidFill>
            <a:srgbClr val="F5F7FA"/>
          </a:solidFill>
          <a:ln cap="flat" cmpd="sng" w="12700">
            <a:solidFill>
              <a:srgbClr val="C9D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8526429a3_4_0"/>
          <p:cNvSpPr/>
          <p:nvPr/>
        </p:nvSpPr>
        <p:spPr>
          <a:xfrm>
            <a:off x="365760" y="4361688"/>
            <a:ext cx="1600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200"/>
              <a:buFont typeface="Calibri"/>
              <a:buNone/>
            </a:pPr>
            <a:r>
              <a:rPr b="0" i="0" lang="zh-TW" sz="160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Sellers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f8526429a3_4_0"/>
          <p:cNvSpPr/>
          <p:nvPr/>
        </p:nvSpPr>
        <p:spPr>
          <a:xfrm>
            <a:off x="2011680" y="3246120"/>
            <a:ext cx="2925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8526429a3_4_0"/>
          <p:cNvSpPr/>
          <p:nvPr/>
        </p:nvSpPr>
        <p:spPr>
          <a:xfrm>
            <a:off x="2395728" y="1170432"/>
            <a:ext cx="2331600" cy="4590300"/>
          </a:xfrm>
          <a:prstGeom prst="roundRect">
            <a:avLst>
              <a:gd fmla="val 3137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8526429a3_4_0"/>
          <p:cNvSpPr/>
          <p:nvPr/>
        </p:nvSpPr>
        <p:spPr>
          <a:xfrm>
            <a:off x="2560320" y="1298448"/>
            <a:ext cx="200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zh-TW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Preparation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8526429a3_4_0"/>
          <p:cNvSpPr/>
          <p:nvPr/>
        </p:nvSpPr>
        <p:spPr>
          <a:xfrm>
            <a:off x="2560320" y="1783080"/>
            <a:ext cx="237600" cy="237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f8526429a3_4_0"/>
          <p:cNvSpPr/>
          <p:nvPr/>
        </p:nvSpPr>
        <p:spPr>
          <a:xfrm>
            <a:off x="2560320" y="178308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8526429a3_4_0"/>
          <p:cNvSpPr/>
          <p:nvPr/>
        </p:nvSpPr>
        <p:spPr>
          <a:xfrm>
            <a:off x="2898648" y="1746504"/>
            <a:ext cx="1645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zh-TW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Retained completed deliveries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8526429a3_4_0"/>
          <p:cNvSpPr/>
          <p:nvPr/>
        </p:nvSpPr>
        <p:spPr>
          <a:xfrm>
            <a:off x="2560320" y="2468880"/>
            <a:ext cx="237600" cy="237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526429a3_4_0"/>
          <p:cNvSpPr/>
          <p:nvPr/>
        </p:nvSpPr>
        <p:spPr>
          <a:xfrm>
            <a:off x="2560320" y="246888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8526429a3_4_0"/>
          <p:cNvSpPr/>
          <p:nvPr/>
        </p:nvSpPr>
        <p:spPr>
          <a:xfrm>
            <a:off x="2898648" y="2432304"/>
            <a:ext cx="1645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zh-TW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Converted timestamps into delivery intervals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8526429a3_4_0"/>
          <p:cNvSpPr/>
          <p:nvPr/>
        </p:nvSpPr>
        <p:spPr>
          <a:xfrm>
            <a:off x="2560320" y="3154680"/>
            <a:ext cx="237600" cy="237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8526429a3_4_0"/>
          <p:cNvSpPr/>
          <p:nvPr/>
        </p:nvSpPr>
        <p:spPr>
          <a:xfrm>
            <a:off x="2560320" y="315468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8526429a3_4_0"/>
          <p:cNvSpPr/>
          <p:nvPr/>
        </p:nvSpPr>
        <p:spPr>
          <a:xfrm>
            <a:off x="2898648" y="3118104"/>
            <a:ext cx="1645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zh-TW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Aggregated items to one row per order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8526429a3_4_0"/>
          <p:cNvSpPr/>
          <p:nvPr/>
        </p:nvSpPr>
        <p:spPr>
          <a:xfrm>
            <a:off x="2560320" y="3840480"/>
            <a:ext cx="237600" cy="237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8526429a3_4_0"/>
          <p:cNvSpPr/>
          <p:nvPr/>
        </p:nvSpPr>
        <p:spPr>
          <a:xfrm>
            <a:off x="2560320" y="384048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8526429a3_4_0"/>
          <p:cNvSpPr/>
          <p:nvPr/>
        </p:nvSpPr>
        <p:spPr>
          <a:xfrm>
            <a:off x="2898648" y="3803904"/>
            <a:ext cx="1645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zh-TW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Combined product &amp; geographic information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8526429a3_4_0"/>
          <p:cNvSpPr/>
          <p:nvPr/>
        </p:nvSpPr>
        <p:spPr>
          <a:xfrm>
            <a:off x="2560320" y="4526280"/>
            <a:ext cx="237600" cy="237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8526429a3_4_0"/>
          <p:cNvSpPr/>
          <p:nvPr/>
        </p:nvSpPr>
        <p:spPr>
          <a:xfrm>
            <a:off x="2560320" y="452628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8526429a3_4_0"/>
          <p:cNvSpPr/>
          <p:nvPr/>
        </p:nvSpPr>
        <p:spPr>
          <a:xfrm>
            <a:off x="2898648" y="4489704"/>
            <a:ext cx="1645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zh-TW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Removed missing inputs &amp; prevented leakage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f8526429a3_4_0"/>
          <p:cNvSpPr/>
          <p:nvPr/>
        </p:nvSpPr>
        <p:spPr>
          <a:xfrm>
            <a:off x="4882896" y="3246120"/>
            <a:ext cx="2925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8526429a3_4_0"/>
          <p:cNvSpPr/>
          <p:nvPr/>
        </p:nvSpPr>
        <p:spPr>
          <a:xfrm>
            <a:off x="5321808" y="2331720"/>
            <a:ext cx="1481400" cy="1965900"/>
          </a:xfrm>
          <a:prstGeom prst="roundRect">
            <a:avLst>
              <a:gd fmla="val 4938" name="adj"/>
            </a:avLst>
          </a:prstGeom>
          <a:solidFill>
            <a:srgbClr val="E3EDF7"/>
          </a:solidFill>
          <a:ln cap="flat" cmpd="sng" w="15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8526429a3_4_0"/>
          <p:cNvSpPr/>
          <p:nvPr/>
        </p:nvSpPr>
        <p:spPr>
          <a:xfrm>
            <a:off x="5321808" y="2487168"/>
            <a:ext cx="14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zh-TW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96,454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8526429a3_4_0"/>
          <p:cNvSpPr/>
          <p:nvPr/>
        </p:nvSpPr>
        <p:spPr>
          <a:xfrm>
            <a:off x="5413248" y="3200400"/>
            <a:ext cx="1298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0" i="0" lang="zh-TW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order-level observations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f8526429a3_4_0"/>
          <p:cNvSpPr/>
          <p:nvPr/>
        </p:nvSpPr>
        <p:spPr>
          <a:xfrm>
            <a:off x="6912864" y="3246120"/>
            <a:ext cx="2925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8526429a3_4_0"/>
          <p:cNvSpPr/>
          <p:nvPr/>
        </p:nvSpPr>
        <p:spPr>
          <a:xfrm>
            <a:off x="7315200" y="1170432"/>
            <a:ext cx="2331600" cy="1993500"/>
          </a:xfrm>
          <a:prstGeom prst="roundRect">
            <a:avLst>
              <a:gd fmla="val 3670" name="adj"/>
            </a:avLst>
          </a:prstGeom>
          <a:solidFill>
            <a:srgbClr val="E3EDF7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8526429a3_4_0"/>
          <p:cNvSpPr/>
          <p:nvPr/>
        </p:nvSpPr>
        <p:spPr>
          <a:xfrm>
            <a:off x="7461504" y="1261872"/>
            <a:ext cx="203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mbria"/>
              <a:buNone/>
            </a:pPr>
            <a:r>
              <a:rPr b="1" i="0" lang="zh-TW" sz="13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Original Feature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8526429a3_4_0"/>
          <p:cNvSpPr/>
          <p:nvPr/>
        </p:nvSpPr>
        <p:spPr>
          <a:xfrm>
            <a:off x="7461504" y="1508760"/>
            <a:ext cx="20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zh-TW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12 original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8526429a3_4_0"/>
          <p:cNvSpPr/>
          <p:nvPr/>
        </p:nvSpPr>
        <p:spPr>
          <a:xfrm>
            <a:off x="7461504" y="1783080"/>
            <a:ext cx="20391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Estimated delivery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Purchase month, weekday &amp; hour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Order &amp; freight 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Item, product &amp; seller 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Average weight &amp; volume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Same-state share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8526429a3_4_0"/>
          <p:cNvSpPr/>
          <p:nvPr/>
        </p:nvSpPr>
        <p:spPr>
          <a:xfrm>
            <a:off x="7315200" y="3364992"/>
            <a:ext cx="2331600" cy="2395800"/>
          </a:xfrm>
          <a:prstGeom prst="roundRect">
            <a:avLst>
              <a:gd fmla="val 3137" name="adj"/>
            </a:avLst>
          </a:prstGeom>
          <a:solidFill>
            <a:srgbClr val="EFE7F6"/>
          </a:solidFill>
          <a:ln cap="flat" cmpd="sng" w="19050">
            <a:solidFill>
              <a:srgbClr val="6B4E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526429a3_4_0"/>
          <p:cNvSpPr/>
          <p:nvPr/>
        </p:nvSpPr>
        <p:spPr>
          <a:xfrm>
            <a:off x="7461504" y="3456432"/>
            <a:ext cx="203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B"/>
              </a:buClr>
              <a:buSzPts val="1300"/>
              <a:buFont typeface="Cambria"/>
              <a:buNone/>
            </a:pPr>
            <a:r>
              <a:rPr b="1" i="0" lang="zh-TW" sz="1300" u="none" cap="none" strike="noStrike">
                <a:solidFill>
                  <a:srgbClr val="6B4E9B"/>
                </a:solidFill>
                <a:latin typeface="Cambria"/>
                <a:ea typeface="Cambria"/>
                <a:cs typeface="Cambria"/>
                <a:sym typeface="Cambria"/>
              </a:rPr>
              <a:t>Transformed Feature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8526429a3_4_0"/>
          <p:cNvSpPr/>
          <p:nvPr/>
        </p:nvSpPr>
        <p:spPr>
          <a:xfrm>
            <a:off x="7461504" y="3703320"/>
            <a:ext cx="203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0" i="1" lang="zh-TW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Skewness-adjusted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8526429a3_4_0"/>
          <p:cNvSpPr/>
          <p:nvPr/>
        </p:nvSpPr>
        <p:spPr>
          <a:xfrm>
            <a:off x="7461504" y="3977640"/>
            <a:ext cx="20391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150"/>
              <a:buFont typeface="Calibri"/>
              <a:buChar char="▪"/>
            </a:pPr>
            <a:r>
              <a:rPr b="0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Log-transformed: order value, freight value, product weight, product volume, delivery days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3262B"/>
              </a:buClr>
              <a:buSzPts val="1150"/>
              <a:buFont typeface="Calibri"/>
              <a:buChar char="▪"/>
            </a:pPr>
            <a:r>
              <a:rPr b="0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Binary flags: multiple items, multiple products, multiple sellers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526429a3_4_0"/>
          <p:cNvSpPr/>
          <p:nvPr/>
        </p:nvSpPr>
        <p:spPr>
          <a:xfrm>
            <a:off x="9738360" y="3246120"/>
            <a:ext cx="2925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8526429a3_4_0"/>
          <p:cNvSpPr/>
          <p:nvPr/>
        </p:nvSpPr>
        <p:spPr>
          <a:xfrm>
            <a:off x="10104120" y="2606040"/>
            <a:ext cx="1719000" cy="1691700"/>
          </a:xfrm>
          <a:prstGeom prst="roundRect">
            <a:avLst>
              <a:gd fmla="val 4324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000000">
                <a:alpha val="2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8526429a3_4_0"/>
          <p:cNvSpPr/>
          <p:nvPr/>
        </p:nvSpPr>
        <p:spPr>
          <a:xfrm>
            <a:off x="10195560" y="2724912"/>
            <a:ext cx="153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zh-TW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late_order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8526429a3_4_0"/>
          <p:cNvSpPr/>
          <p:nvPr/>
        </p:nvSpPr>
        <p:spPr>
          <a:xfrm>
            <a:off x="10241280" y="3108960"/>
            <a:ext cx="1444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FD8B0"/>
              </a:buClr>
              <a:buSzPts val="1100"/>
              <a:buFont typeface="Calibri"/>
              <a:buNone/>
            </a:pPr>
            <a:r>
              <a:rPr b="1" i="0" lang="zh-TW" sz="1600" u="none" cap="none" strike="noStrike">
                <a:solidFill>
                  <a:srgbClr val="9FD8B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zh-TW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on time / early</a:t>
            </a:r>
            <a:br>
              <a:rPr b="0" i="0" lang="zh-TW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zh-TW" sz="1600" u="none" cap="none" strike="noStrike">
                <a:solidFill>
                  <a:srgbClr val="F4B08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zh-TW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late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8526429a3_4_0"/>
          <p:cNvSpPr/>
          <p:nvPr/>
        </p:nvSpPr>
        <p:spPr>
          <a:xfrm>
            <a:off x="365754" y="6053324"/>
            <a:ext cx="6345900" cy="567000"/>
          </a:xfrm>
          <a:prstGeom prst="roundRect">
            <a:avLst>
              <a:gd fmla="val 1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f8526429a3_4_0"/>
          <p:cNvSpPr/>
          <p:nvPr/>
        </p:nvSpPr>
        <p:spPr>
          <a:xfrm>
            <a:off x="530341" y="6053325"/>
            <a:ext cx="604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zh-TW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80/20 stratified split</a:t>
            </a:r>
            <a:r>
              <a:rPr b="0" i="0" lang="zh-TW" sz="12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b="1" i="0" lang="zh-TW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balancing</a:t>
            </a:r>
            <a:r>
              <a:rPr b="0" i="0" lang="zh-TW" sz="12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   |   </a:t>
            </a:r>
            <a:r>
              <a:rPr b="1" i="0" lang="zh-TW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Scaling for Logistic Regression and Neural Network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526429a3_4_57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lang="zh-TW" sz="3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Modelling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8526429a3_4_57"/>
          <p:cNvSpPr/>
          <p:nvPr/>
        </p:nvSpPr>
        <p:spPr>
          <a:xfrm>
            <a:off x="365760" y="1298448"/>
            <a:ext cx="3063300" cy="1206900"/>
          </a:xfrm>
          <a:prstGeom prst="roundRect">
            <a:avLst>
              <a:gd fmla="val 6061" name="adj"/>
            </a:avLst>
          </a:prstGeom>
          <a:solidFill>
            <a:srgbClr val="E3EDF7"/>
          </a:solidFill>
          <a:ln cap="flat" cmpd="sng" w="158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8526429a3_4_57"/>
          <p:cNvSpPr/>
          <p:nvPr/>
        </p:nvSpPr>
        <p:spPr>
          <a:xfrm>
            <a:off x="530352" y="1408176"/>
            <a:ext cx="273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mbria"/>
              <a:buNone/>
            </a:pPr>
            <a:r>
              <a:rPr b="1" i="0" lang="zh-TW" sz="1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Logistic Regression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8526429a3_4_57"/>
          <p:cNvSpPr/>
          <p:nvPr/>
        </p:nvSpPr>
        <p:spPr>
          <a:xfrm>
            <a:off x="530352" y="1719072"/>
            <a:ext cx="2734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Interpretable linear baseline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Tested with original and transformed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8526429a3_4_57"/>
          <p:cNvSpPr/>
          <p:nvPr/>
        </p:nvSpPr>
        <p:spPr>
          <a:xfrm>
            <a:off x="365760" y="2706624"/>
            <a:ext cx="3063300" cy="1206900"/>
          </a:xfrm>
          <a:prstGeom prst="roundRect">
            <a:avLst>
              <a:gd fmla="val 6061" name="adj"/>
            </a:avLst>
          </a:prstGeom>
          <a:solidFill>
            <a:srgbClr val="E6F0E3"/>
          </a:solidFill>
          <a:ln cap="flat" cmpd="sng" w="1587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8526429a3_4_57"/>
          <p:cNvSpPr/>
          <p:nvPr/>
        </p:nvSpPr>
        <p:spPr>
          <a:xfrm>
            <a:off x="530352" y="2816352"/>
            <a:ext cx="273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Cambria"/>
              <a:buNone/>
            </a:pPr>
            <a:r>
              <a:rPr b="1" i="0" lang="zh-TW" sz="1400" u="none" cap="none" strike="noStrike">
                <a:solidFill>
                  <a:srgbClr val="2C5F2D"/>
                </a:solidFill>
                <a:latin typeface="Cambria"/>
                <a:ea typeface="Cambria"/>
                <a:cs typeface="Cambria"/>
                <a:sym typeface="Cambria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8526429a3_4_57"/>
          <p:cNvSpPr/>
          <p:nvPr/>
        </p:nvSpPr>
        <p:spPr>
          <a:xfrm>
            <a:off x="530352" y="3127248"/>
            <a:ext cx="27342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Captures nonlinear relationships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Tested with original and transformed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8526429a3_4_57"/>
          <p:cNvSpPr/>
          <p:nvPr/>
        </p:nvSpPr>
        <p:spPr>
          <a:xfrm>
            <a:off x="365760" y="4114800"/>
            <a:ext cx="3063300" cy="1417200"/>
          </a:xfrm>
          <a:prstGeom prst="roundRect">
            <a:avLst>
              <a:gd fmla="val 5161" name="adj"/>
            </a:avLst>
          </a:prstGeom>
          <a:solidFill>
            <a:srgbClr val="FDECD8"/>
          </a:solidFill>
          <a:ln cap="flat" cmpd="sng" w="15875">
            <a:solidFill>
              <a:srgbClr val="C970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8526429a3_4_57"/>
          <p:cNvSpPr/>
          <p:nvPr/>
        </p:nvSpPr>
        <p:spPr>
          <a:xfrm>
            <a:off x="530352" y="4224528"/>
            <a:ext cx="273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01F"/>
              </a:buClr>
              <a:buSzPts val="1400"/>
              <a:buFont typeface="Cambria"/>
              <a:buNone/>
            </a:pPr>
            <a:r>
              <a:rPr b="1" i="0" lang="zh-TW" sz="1400" u="none" cap="none" strike="noStrike">
                <a:solidFill>
                  <a:srgbClr val="C9701F"/>
                </a:solidFill>
                <a:latin typeface="Cambria"/>
                <a:ea typeface="Cambria"/>
                <a:cs typeface="Cambria"/>
                <a:sym typeface="Cambria"/>
              </a:rPr>
              <a:t>Neural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8526429a3_4_57"/>
          <p:cNvSpPr/>
          <p:nvPr/>
        </p:nvSpPr>
        <p:spPr>
          <a:xfrm>
            <a:off x="530352" y="4535424"/>
            <a:ext cx="2734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Two hidden layers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Original standardized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23262B"/>
              </a:buClr>
              <a:buSzPts val="1050"/>
              <a:buFont typeface="Calibri"/>
              <a:buChar char="▪"/>
            </a:pPr>
            <a:r>
              <a:rPr b="0" i="0" lang="zh-TW" sz="10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Balanced training sample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g3f8526429a3_4_57"/>
          <p:cNvGraphicFramePr/>
          <p:nvPr/>
        </p:nvGraphicFramePr>
        <p:xfrm>
          <a:off x="3657600" y="12984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{56660E5E-6522-494E-8277-ECBBBE6872FD}</a:tableStyleId>
              </a:tblPr>
              <a:tblGrid>
                <a:gridCol w="2880350"/>
                <a:gridCol w="1280150"/>
                <a:gridCol w="1280150"/>
                <a:gridCol w="1280150"/>
                <a:gridCol w="12801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</a:rPr>
                        <a:t>Recall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zh-TW" sz="1200" u="none" cap="none" strike="noStrike">
                          <a:solidFill>
                            <a:srgbClr val="FFFFFF"/>
                          </a:solidFill>
                        </a:rPr>
                        <a:t>F1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Original Logistic Regression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0.581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0.118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0.644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0.199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Transformed Logistic Regression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0.588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0.119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0.640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0.201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DF7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zh-TW" sz="1150" u="none" cap="none" strike="noStrike">
                          <a:solidFill>
                            <a:srgbClr val="23262B"/>
                          </a:solidFill>
                        </a:rPr>
                        <a:t>Original Random Forest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zh-TW" sz="1150" u="none" cap="none" strike="noStrike">
                          <a:solidFill>
                            <a:srgbClr val="23262B"/>
                          </a:solidFill>
                        </a:rPr>
                        <a:t>0.792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zh-TW" sz="1150" u="none" cap="none" strike="noStrike">
                          <a:solidFill>
                            <a:srgbClr val="23262B"/>
                          </a:solidFill>
                        </a:rPr>
                        <a:t>0.202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0.528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zh-TW" sz="1150" u="none" cap="none" strike="noStrike">
                          <a:solidFill>
                            <a:srgbClr val="23262B"/>
                          </a:solidFill>
                        </a:rPr>
                        <a:t>0.292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Transformed Random Forest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0.791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0.201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0.533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zh-TW" sz="1150" u="none" cap="none" strike="noStrike">
                          <a:solidFill>
                            <a:srgbClr val="23262B"/>
                          </a:solidFill>
                        </a:rPr>
                        <a:t>0.292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E3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Neural Network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C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0.683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C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0.154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C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zh-TW" sz="1150" u="none" cap="none" strike="noStrike">
                          <a:solidFill>
                            <a:srgbClr val="23262B"/>
                          </a:solidFill>
                        </a:rPr>
                        <a:t>0.650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C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62B"/>
                        </a:buClr>
                        <a:buSzPts val="1150"/>
                        <a:buFont typeface="Calibri"/>
                        <a:buNone/>
                      </a:pPr>
                      <a:r>
                        <a:rPr lang="zh-TW" sz="1150" u="none" cap="none" strike="noStrike">
                          <a:solidFill>
                            <a:srgbClr val="23262B"/>
                          </a:solidFill>
                        </a:rPr>
                        <a:t>0.249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CD8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g3f8526429a3_4_57"/>
          <p:cNvSpPr/>
          <p:nvPr/>
        </p:nvSpPr>
        <p:spPr>
          <a:xfrm>
            <a:off x="3657600" y="2372868"/>
            <a:ext cx="8138100" cy="358200"/>
          </a:xfrm>
          <a:prstGeom prst="rect">
            <a:avLst/>
          </a:prstGeom>
          <a:noFill/>
          <a:ln cap="flat" cmpd="sng" w="28575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8526429a3_4_57"/>
          <p:cNvSpPr/>
          <p:nvPr/>
        </p:nvSpPr>
        <p:spPr>
          <a:xfrm>
            <a:off x="3657600" y="3520440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zh-TW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Transformations produced negligible improvement over the original features.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8526429a3_4_57"/>
          <p:cNvSpPr/>
          <p:nvPr/>
        </p:nvSpPr>
        <p:spPr>
          <a:xfrm>
            <a:off x="3657600" y="3950208"/>
            <a:ext cx="81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1" i="0" lang="zh-TW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8526429a3_4_57"/>
          <p:cNvSpPr/>
          <p:nvPr/>
        </p:nvSpPr>
        <p:spPr>
          <a:xfrm>
            <a:off x="3657600" y="4306824"/>
            <a:ext cx="82200" cy="82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f8526429a3_4_57"/>
          <p:cNvSpPr/>
          <p:nvPr/>
        </p:nvSpPr>
        <p:spPr>
          <a:xfrm>
            <a:off x="3858768" y="4242816"/>
            <a:ext cx="79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150"/>
              <a:buFont typeface="Calibri"/>
              <a:buNone/>
            </a:pPr>
            <a:r>
              <a:rPr b="1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Best precision: </a:t>
            </a:r>
            <a:r>
              <a:rPr b="0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Original Random Forest — 0.202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8526429a3_4_57"/>
          <p:cNvSpPr/>
          <p:nvPr/>
        </p:nvSpPr>
        <p:spPr>
          <a:xfrm>
            <a:off x="3657600" y="4617720"/>
            <a:ext cx="82200" cy="82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8526429a3_4_57"/>
          <p:cNvSpPr/>
          <p:nvPr/>
        </p:nvSpPr>
        <p:spPr>
          <a:xfrm>
            <a:off x="3858768" y="4553712"/>
            <a:ext cx="79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150"/>
              <a:buFont typeface="Calibri"/>
              <a:buNone/>
            </a:pPr>
            <a:r>
              <a:rPr b="1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Best recall: </a:t>
            </a:r>
            <a:r>
              <a:rPr b="0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Neural Network — 0.650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8526429a3_4_57"/>
          <p:cNvSpPr/>
          <p:nvPr/>
        </p:nvSpPr>
        <p:spPr>
          <a:xfrm>
            <a:off x="3657600" y="4928616"/>
            <a:ext cx="82200" cy="82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8526429a3_4_57"/>
          <p:cNvSpPr/>
          <p:nvPr/>
        </p:nvSpPr>
        <p:spPr>
          <a:xfrm>
            <a:off x="3858768" y="4864608"/>
            <a:ext cx="79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150"/>
              <a:buFont typeface="Calibri"/>
              <a:buNone/>
            </a:pPr>
            <a:r>
              <a:rPr b="1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Best F1: </a:t>
            </a:r>
            <a:r>
              <a:rPr b="0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Original and Transformed Random Forest — 0.292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f8526429a3_4_57"/>
          <p:cNvSpPr/>
          <p:nvPr/>
        </p:nvSpPr>
        <p:spPr>
          <a:xfrm>
            <a:off x="3657600" y="5239512"/>
            <a:ext cx="82200" cy="82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8526429a3_4_57"/>
          <p:cNvSpPr/>
          <p:nvPr/>
        </p:nvSpPr>
        <p:spPr>
          <a:xfrm>
            <a:off x="3858768" y="5175504"/>
            <a:ext cx="7937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262B"/>
              </a:buClr>
              <a:buSzPts val="1150"/>
              <a:buFont typeface="Calibri"/>
              <a:buNone/>
            </a:pPr>
            <a:r>
              <a:rPr b="0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Transformations changed performance by </a:t>
            </a:r>
            <a:r>
              <a:rPr b="1" i="0" lang="zh-TW" sz="1150" u="none" cap="none" strike="noStrike">
                <a:solidFill>
                  <a:srgbClr val="23262B"/>
                </a:solidFill>
                <a:latin typeface="Calibri"/>
                <a:ea typeface="Calibri"/>
                <a:cs typeface="Calibri"/>
                <a:sym typeface="Calibri"/>
              </a:rPr>
              <a:t>less than one percentage point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526429a3_0_15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Dashboard Demo</a:t>
            </a:r>
            <a:endParaRPr/>
          </a:p>
        </p:txBody>
      </p:sp>
      <p:sp>
        <p:nvSpPr>
          <p:cNvPr id="269" name="Google Shape;269;g3f8526429a3_0_15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ad7893cf8_0_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What’s Next…</a:t>
            </a:r>
            <a:endParaRPr/>
          </a:p>
        </p:txBody>
      </p:sp>
      <p:sp>
        <p:nvSpPr>
          <p:cNvPr id="275" name="Google Shape;275;g3fad7893cf8_0_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zh-TW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Turning delay prediction into delay prevention</a:t>
            </a:r>
            <a:endParaRPr i="1" sz="16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TW" sz="2400"/>
              <a:t>Seller-Level and Logistics Partner Accountability</a:t>
            </a:r>
            <a:endParaRPr sz="2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TW" sz="2000"/>
              <a:t>Rank sellers and logistics partner by late-order rate</a:t>
            </a:r>
            <a:endParaRPr sz="20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TW" sz="2000"/>
              <a:t>Flag chronic offenders</a:t>
            </a:r>
            <a:endParaRPr sz="20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zh-TW" sz="2400"/>
              <a:t>Real-Time Triage at Shipment</a:t>
            </a:r>
            <a:endParaRPr sz="2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TW" sz="2000"/>
              <a:t>Route the delay-risk model into live operations</a:t>
            </a:r>
            <a:endParaRPr sz="2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TW" sz="2000"/>
              <a:t>Auto-flag high-risk orders for expedited handling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zh-TW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Can we transform delay’s association with customer dissatisfaction into a good customer service?</a:t>
            </a:r>
            <a:endParaRPr i="1" sz="16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zh-TW" sz="2400"/>
              <a:t>Platform Voucher for Next Order</a:t>
            </a:r>
            <a:endParaRPr sz="2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TW" sz="2000"/>
              <a:t>If your order was delayed, you’re given a small discount for your next order</a:t>
            </a:r>
            <a:endParaRPr sz="20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zh-TW" sz="2000"/>
              <a:t>What’s the optimal voucher amount that will maximize customer retention but minimize platform expense?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526429a3_7_6"/>
          <p:cNvSpPr txBox="1"/>
          <p:nvPr/>
        </p:nvSpPr>
        <p:spPr>
          <a:xfrm>
            <a:off x="457700" y="334000"/>
            <a:ext cx="1097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Links to the Project</a:t>
            </a:r>
            <a:endParaRPr sz="6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1" name="Google Shape;281;g3f8526429a3_7_6"/>
          <p:cNvSpPr txBox="1"/>
          <p:nvPr/>
        </p:nvSpPr>
        <p:spPr>
          <a:xfrm>
            <a:off x="316800" y="1682325"/>
            <a:ext cx="118752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zh-TW" sz="2800">
                <a:solidFill>
                  <a:schemeClr val="dk1"/>
                </a:solidFill>
              </a:rPr>
              <a:t>Databricks Notebook : </a:t>
            </a:r>
            <a:r>
              <a:rPr lang="zh-TW" sz="2800" u="sng">
                <a:solidFill>
                  <a:schemeClr val="hlink"/>
                </a:solidFill>
                <a:hlinkClick r:id="rId3"/>
              </a:rPr>
              <a:t>https://dbc-9be97a69-c520.cloud.databricks.com/editor/notebooks/530294719074615?o=7474652451077049#command/8078495091479907</a:t>
            </a:r>
            <a:br>
              <a:rPr lang="zh-TW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zh-TW" sz="2800">
                <a:solidFill>
                  <a:schemeClr val="dk1"/>
                </a:solidFill>
              </a:rPr>
              <a:t>Github Link :</a:t>
            </a:r>
            <a:br>
              <a:rPr lang="zh-TW" sz="2800">
                <a:solidFill>
                  <a:schemeClr val="dk1"/>
                </a:solidFill>
              </a:rPr>
            </a:br>
            <a:r>
              <a:rPr lang="zh-TW" sz="2800" u="sng">
                <a:solidFill>
                  <a:schemeClr val="hlink"/>
                </a:solidFill>
                <a:hlinkClick r:id="rId4"/>
              </a:rPr>
              <a:t>https://github.com/shivambhatt35/Better-late-than-never</a:t>
            </a:r>
            <a:br>
              <a:rPr lang="zh-TW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zh-TW" sz="2800">
                <a:solidFill>
                  <a:schemeClr val="dk1"/>
                </a:solidFill>
              </a:rPr>
              <a:t>Presentation :</a:t>
            </a:r>
            <a:br>
              <a:rPr lang="zh-TW" sz="2800">
                <a:solidFill>
                  <a:schemeClr val="dk1"/>
                </a:solidFill>
              </a:rPr>
            </a:br>
            <a:r>
              <a:rPr lang="zh-TW" sz="2800" u="sng">
                <a:solidFill>
                  <a:schemeClr val="hlink"/>
                </a:solidFill>
                <a:hlinkClick r:id="rId5"/>
              </a:rPr>
              <a:t>https://docs.google.com/presentation/d/1xe78iy3k0WDrTWiHSMP0OUK1W6T1kGDW/edit?slide=id.p1#slide=id.p1</a:t>
            </a:r>
            <a:br>
              <a:rPr lang="zh-TW" sz="2800">
                <a:solidFill>
                  <a:schemeClr val="dk1"/>
                </a:solidFill>
              </a:rPr>
            </a:br>
            <a:br>
              <a:rPr lang="zh-TW" sz="2800">
                <a:solidFill>
                  <a:schemeClr val="dk1"/>
                </a:solidFill>
              </a:rPr>
            </a:b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ad7893cf8_0_36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Q&amp;A</a:t>
            </a:r>
            <a:endParaRPr/>
          </a:p>
        </p:txBody>
      </p:sp>
      <p:sp>
        <p:nvSpPr>
          <p:cNvPr id="287" name="Google Shape;287;g3fad7893cf8_0_36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2026-08-24T19:18:29Z</dcterms:created>
  <dc:creator>Joyce Lin</dc:creator>
</cp:coreProperties>
</file>